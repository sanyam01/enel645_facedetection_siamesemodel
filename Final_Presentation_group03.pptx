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1"/>
  </p:sldMasterIdLst>
  <p:sldIdLst>
    <p:sldId id="256" r:id="rId2"/>
    <p:sldId id="257" r:id="rId3"/>
    <p:sldId id="258" r:id="rId4"/>
    <p:sldId id="261" r:id="rId5"/>
    <p:sldId id="259" r:id="rId6"/>
    <p:sldId id="265" r:id="rId7"/>
    <p:sldId id="260" r:id="rId8"/>
    <p:sldId id="264" r:id="rId9"/>
    <p:sldId id="267" r:id="rId10"/>
    <p:sldId id="266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3"/>
  </p:normalViewPr>
  <p:slideViewPr>
    <p:cSldViewPr snapToGrid="0" snapToObjects="1">
      <p:cViewPr varScale="1">
        <p:scale>
          <a:sx n="62" d="100"/>
          <a:sy n="62" d="100"/>
        </p:scale>
        <p:origin x="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4/16/2021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8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4/16/2021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4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3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4/16/2021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8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3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2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0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4/16/2021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9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77" r:id="rId7"/>
    <p:sldLayoutId id="2147483778" r:id="rId8"/>
    <p:sldLayoutId id="2147483779" r:id="rId9"/>
    <p:sldLayoutId id="2147483780" r:id="rId10"/>
    <p:sldLayoutId id="214748378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905C581-3E86-4ADD-9EDD-5FA87B461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376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EA5A005B-E73F-4A83-97FE-C1C67CA06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t="15105" r="-1" b="21332"/>
          <a:stretch/>
        </p:blipFill>
        <p:spPr>
          <a:xfrm>
            <a:off x="-8977" y="1386"/>
            <a:ext cx="12188932" cy="6856614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4672714-67D2-40D0-B961-A7438FE9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A5A1C471-1402-4BD1-8617-F5D9B7EB1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6CCA9701-8B9C-4D7A-AE5B-DD505C968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1B55BF-5020-9D47-B0C0-A8DC08C0E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0" y="726066"/>
            <a:ext cx="9774619" cy="2474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ENEL 645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Data Mining &amp; Machine Learning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Final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9CB4D-8DC5-8A4E-A23C-C8CECDC9F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2" y="3429000"/>
            <a:ext cx="9954076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</a:rPr>
              <a:t>Title: Face Detection Using Siamese Model</a:t>
            </a: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Team Number 3: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Chetana </a:t>
            </a:r>
            <a:r>
              <a:rPr lang="en-US" sz="1800" b="1" dirty="0" err="1">
                <a:solidFill>
                  <a:srgbClr val="FFFFFF"/>
                </a:solidFill>
              </a:rPr>
              <a:t>Bijoor</a:t>
            </a:r>
            <a:endParaRPr lang="en-US" sz="1800" b="1" dirty="0">
              <a:solidFill>
                <a:srgbClr val="FFFFFF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</a:rPr>
              <a:t>Sanyam</a:t>
            </a:r>
            <a:endParaRPr lang="en-US" sz="1800" b="1" dirty="0">
              <a:solidFill>
                <a:srgbClr val="FFFFFF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</a:rPr>
              <a:t>Prabhleen</a:t>
            </a:r>
            <a:r>
              <a:rPr lang="en-US" sz="1800" b="1" dirty="0">
                <a:solidFill>
                  <a:srgbClr val="FFFFFF"/>
                </a:solidFill>
              </a:rPr>
              <a:t> Kaur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Neha Singh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FFFFFF"/>
                </a:solidFill>
              </a:rPr>
              <a:t>Taruneesh</a:t>
            </a:r>
            <a:r>
              <a:rPr lang="en-US" sz="1800" b="1" dirty="0">
                <a:solidFill>
                  <a:srgbClr val="FFFFFF"/>
                </a:solidFill>
              </a:rPr>
              <a:t> Sachdeva</a:t>
            </a:r>
          </a:p>
        </p:txBody>
      </p:sp>
    </p:spTree>
    <p:extLst>
      <p:ext uri="{BB962C8B-B14F-4D97-AF65-F5344CB8AC3E}">
        <p14:creationId xmlns:p14="http://schemas.microsoft.com/office/powerpoint/2010/main" val="239889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098F-D176-E640-B87A-0EEAF473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Motivation &amp; Significance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5B84-DC90-5746-82E3-34BF4477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project, we use Siamese Neural Networks (SNN) for Face Recognition due to the below reasons:</a:t>
            </a:r>
          </a:p>
          <a:p>
            <a:r>
              <a:rPr lang="en-US" dirty="0"/>
              <a:t>SNN allows users to choose only a handful of images from each class or from a person.</a:t>
            </a:r>
          </a:p>
          <a:p>
            <a:r>
              <a:rPr lang="en-US" dirty="0"/>
              <a:t>SNN does not classify images but instead learns the similarity functions that evaluates similarity between two objects.</a:t>
            </a:r>
          </a:p>
          <a:p>
            <a:r>
              <a:rPr lang="en-US" dirty="0"/>
              <a:t>SNN’s are easy to train and have a fairly simple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78499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B4BE-CAA3-3C48-A4D4-90F9D985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4B4C3-3EBA-7E4C-BEFE-EBF580FA8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Training Dataset: 5 images per team member</a:t>
            </a:r>
          </a:p>
          <a:p>
            <a:r>
              <a:rPr lang="en-US" dirty="0"/>
              <a:t>Augmented Training Dataset: 20 images per team member (100 images)</a:t>
            </a:r>
          </a:p>
          <a:p>
            <a:r>
              <a:rPr lang="en-US" dirty="0"/>
              <a:t>Test Dataset: 54 images</a:t>
            </a:r>
          </a:p>
          <a:p>
            <a:r>
              <a:rPr lang="en-US" dirty="0"/>
              <a:t>These images were resized into a shape of (128, 128, 3)</a:t>
            </a:r>
          </a:p>
          <a:p>
            <a:r>
              <a:rPr lang="en-US" dirty="0"/>
              <a:t>To create the actual training set, each image is paired with every other image and a label is assigned to each pair.</a:t>
            </a:r>
          </a:p>
          <a:p>
            <a:pPr marL="0" indent="0" algn="ctr">
              <a:buNone/>
            </a:pPr>
            <a:r>
              <a:rPr lang="en-US" dirty="0"/>
              <a:t>Same class: Label 1</a:t>
            </a:r>
          </a:p>
          <a:p>
            <a:pPr marL="0" indent="0" algn="ctr">
              <a:buNone/>
            </a:pPr>
            <a:r>
              <a:rPr lang="en-US" dirty="0"/>
              <a:t>Different class: Label 0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1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5CB6-8807-CB49-8564-96399489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A380-2671-0648-8898-0BB27984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labelling the image pairs, the images are converted into NumPy arrays and stored in </a:t>
            </a:r>
            <a:r>
              <a:rPr lang="en-US" i="1" dirty="0"/>
              <a:t>x1.npy </a:t>
            </a:r>
            <a:r>
              <a:rPr lang="en-US" dirty="0"/>
              <a:t>and </a:t>
            </a:r>
            <a:r>
              <a:rPr lang="en-US" i="1" dirty="0"/>
              <a:t>x2.npy </a:t>
            </a:r>
            <a:r>
              <a:rPr lang="en-US" dirty="0"/>
              <a:t>files.</a:t>
            </a:r>
          </a:p>
          <a:p>
            <a:r>
              <a:rPr lang="en-US" dirty="0"/>
              <a:t>Each element of </a:t>
            </a:r>
            <a:r>
              <a:rPr lang="en-US" i="1" dirty="0"/>
              <a:t>x1.npy </a:t>
            </a:r>
            <a:r>
              <a:rPr lang="en-US" dirty="0"/>
              <a:t>and </a:t>
            </a:r>
            <a:r>
              <a:rPr lang="en-US" i="1" dirty="0"/>
              <a:t>x2.npy </a:t>
            </a:r>
            <a:r>
              <a:rPr lang="en-US" dirty="0"/>
              <a:t>contains an image from each pair, such that the nth image from each file makes the nth pair with corresponding label stored in </a:t>
            </a:r>
            <a:r>
              <a:rPr lang="en-US" i="1" dirty="0" err="1"/>
              <a:t>y.npy</a:t>
            </a:r>
            <a:r>
              <a:rPr lang="en-US" i="1" dirty="0"/>
              <a:t> </a:t>
            </a:r>
            <a:r>
              <a:rPr lang="en-US" dirty="0"/>
              <a:t>file.</a:t>
            </a:r>
          </a:p>
          <a:p>
            <a:r>
              <a:rPr lang="en-US" dirty="0"/>
              <a:t>As a result, we have 2 sets of images X1 and X2 of shape (10000, 128, 128, 3) and 10000 labels.</a:t>
            </a:r>
          </a:p>
        </p:txBody>
      </p:sp>
    </p:spTree>
    <p:extLst>
      <p:ext uri="{BB962C8B-B14F-4D97-AF65-F5344CB8AC3E}">
        <p14:creationId xmlns:p14="http://schemas.microsoft.com/office/powerpoint/2010/main" val="29653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227E-019C-0041-96AE-7CC3C1AA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83F0-55EA-3C4C-BD18-517337EB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Siamese Model Architecture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1C6B2-D31A-244C-8CDA-4D9D6A3B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97" y="2781936"/>
            <a:ext cx="94615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7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D52B-7019-4650-AF0A-74622991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251928"/>
            <a:ext cx="11274612" cy="5893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Algorithm:</a:t>
            </a:r>
            <a:endParaRPr lang="en-CA" sz="1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take two images ( </a:t>
            </a:r>
            <a:r>
              <a:rPr lang="en-US" sz="1800" b="0" i="1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Image1</a:t>
            </a: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800" b="0" i="1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Image2</a:t>
            </a: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). Both the images are feed to a single Convolutional Neural Network ( CNN ).</a:t>
            </a:r>
          </a:p>
          <a:p>
            <a:pPr>
              <a:buFont typeface="+mj-lt"/>
              <a:buAutoNum type="arabicPeriod"/>
            </a:pP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last layer of the CNN produces a fixed size vector ( embedding of the image ). Since two images are feed, we get two embeddings. ( </a:t>
            </a:r>
            <a:r>
              <a:rPr lang="en-US" sz="1800" b="0" i="1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h1</a:t>
            </a: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800" b="0" i="1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h2</a:t>
            </a: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).</a:t>
            </a:r>
          </a:p>
          <a:p>
            <a:pPr>
              <a:buFont typeface="+mj-lt"/>
              <a:buAutoNum type="arabicPeriod"/>
            </a:pP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Euclidean distance between the vectors is calculated.</a:t>
            </a:r>
          </a:p>
          <a:p>
            <a:pPr>
              <a:buFont typeface="+mj-lt"/>
              <a:buAutoNum type="arabicPeriod"/>
            </a:pPr>
            <a:r>
              <a:rPr 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values then pass through a sigmoid function and a similarity score is produced.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medium-content-sans-serif-fon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Construction:</a:t>
            </a:r>
            <a:endParaRPr lang="en-CA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Siamese Model is built using the sequential model approach.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Four convolution layers along with the two max pooling layers are used for building the model, with </a:t>
            </a:r>
            <a:r>
              <a:rPr lang="en-CA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LeakyReLu</a:t>
            </a:r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the activation function. </a:t>
            </a:r>
          </a:p>
          <a:p>
            <a:r>
              <a:rPr lang="en-CA" sz="18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Two instances of model are constructed with same parameters.</a:t>
            </a:r>
          </a:p>
          <a:p>
            <a:r>
              <a:rPr lang="en-CA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utputs from the two instances of the models is applied to the dense layer with ‘sigmoid’ as the activation function.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output of the sigmoid function is the similarity score between the two images</a:t>
            </a:r>
            <a:r>
              <a:rPr lang="en-CA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based on which model learns the similarity.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14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6E21-C824-2B4F-9E0D-A4E33789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6801-E06A-4144-84D8-75325BCD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is trained with the different batch size, epochs, and different spit ratio of training and validation data.</a:t>
            </a:r>
          </a:p>
          <a:p>
            <a:r>
              <a:rPr lang="en-US" dirty="0"/>
              <a:t>A patience with value 10 is used along with the monitoring of the minimum validation loss.</a:t>
            </a:r>
          </a:p>
          <a:p>
            <a:r>
              <a:rPr lang="en-US" dirty="0"/>
              <a:t>The best score is achieved with a batch size of 6, 100 epochs, and train vs validation data split ratio of 8000:2000.</a:t>
            </a:r>
          </a:p>
          <a:p>
            <a:r>
              <a:rPr lang="en-US" dirty="0"/>
              <a:t>Accuracy achieved – 54%.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3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6CB8-2540-4ED6-AC92-D95833DB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0"/>
            <a:ext cx="10895106" cy="1325563"/>
          </a:xfrm>
        </p:spPr>
        <p:txBody>
          <a:bodyPr/>
          <a:lstStyle/>
          <a:p>
            <a:r>
              <a:rPr lang="en-IN" b="1" dirty="0"/>
              <a:t>Results - Predicted Labels</a:t>
            </a:r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92BDBFC9-C49E-4924-BE6F-8DC2CEF9C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93" y="1454332"/>
            <a:ext cx="8292503" cy="4833451"/>
          </a:xfr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5A1FBAE-9549-4DC2-AB00-B2E703FA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52077"/>
              </p:ext>
            </p:extLst>
          </p:nvPr>
        </p:nvGraphicFramePr>
        <p:xfrm>
          <a:off x="9092629" y="1945682"/>
          <a:ext cx="2738588" cy="2503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94">
                  <a:extLst>
                    <a:ext uri="{9D8B030D-6E8A-4147-A177-3AD203B41FA5}">
                      <a16:colId xmlns:a16="http://schemas.microsoft.com/office/drawing/2014/main" val="2503213547"/>
                    </a:ext>
                  </a:extLst>
                </a:gridCol>
                <a:gridCol w="1369294">
                  <a:extLst>
                    <a:ext uri="{9D8B030D-6E8A-4147-A177-3AD203B41FA5}">
                      <a16:colId xmlns:a16="http://schemas.microsoft.com/office/drawing/2014/main" val="1460707732"/>
                    </a:ext>
                  </a:extLst>
                </a:gridCol>
              </a:tblGrid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9399"/>
                  </a:ext>
                </a:extLst>
              </a:tr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Chetana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106144"/>
                  </a:ext>
                </a:extLst>
              </a:tr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Prabhleen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742616"/>
                  </a:ext>
                </a:extLst>
              </a:tr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Sanyam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506097"/>
                  </a:ext>
                </a:extLst>
              </a:tr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Taruneesh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90381"/>
                  </a:ext>
                </a:extLst>
              </a:tr>
              <a:tr h="417171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949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29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A7D2-05FF-4F15-8092-34B786F8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1"/>
            <a:ext cx="10895106" cy="815768"/>
          </a:xfrm>
        </p:spPr>
        <p:txBody>
          <a:bodyPr/>
          <a:lstStyle/>
          <a:p>
            <a:r>
              <a:rPr lang="en-CA" b="1" dirty="0"/>
              <a:t>Predicted vs Actual Images</a:t>
            </a:r>
          </a:p>
        </p:txBody>
      </p:sp>
      <p:pic>
        <p:nvPicPr>
          <p:cNvPr id="9" name="Content Placeholder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CC96C081-BA2A-4046-90D6-05E466474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842" y="1400211"/>
            <a:ext cx="12032587" cy="4770315"/>
          </a:xfrm>
        </p:spPr>
      </p:pic>
    </p:spTree>
    <p:extLst>
      <p:ext uri="{BB962C8B-B14F-4D97-AF65-F5344CB8AC3E}">
        <p14:creationId xmlns:p14="http://schemas.microsoft.com/office/powerpoint/2010/main" val="139654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BEE4-6E6E-46A5-9775-CCFBB534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Confusion Matrix  and Classification Report</a:t>
            </a:r>
          </a:p>
        </p:txBody>
      </p:sp>
      <p:pic>
        <p:nvPicPr>
          <p:cNvPr id="5" name="Content Placeholder 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06739FC1-3663-4479-8DAB-7E9C5EEE8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588" y="2393761"/>
            <a:ext cx="3483583" cy="2121729"/>
          </a:xfr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56E2E6E-D12C-4373-8942-4FCD64E05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768" y="1802997"/>
            <a:ext cx="6851202" cy="3303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31073-5F4B-48F5-93D1-3965719A519E}"/>
              </a:ext>
            </a:extLst>
          </p:cNvPr>
          <p:cNvSpPr txBox="1"/>
          <p:nvPr/>
        </p:nvSpPr>
        <p:spPr>
          <a:xfrm>
            <a:off x="1555215" y="4598423"/>
            <a:ext cx="219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Confusion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B3BE2-41B5-4551-8435-B4154765856E}"/>
              </a:ext>
            </a:extLst>
          </p:cNvPr>
          <p:cNvSpPr txBox="1"/>
          <p:nvPr/>
        </p:nvSpPr>
        <p:spPr>
          <a:xfrm>
            <a:off x="7068621" y="5363379"/>
            <a:ext cx="42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97830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DADC-F551-954C-B9F0-2D638ADD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C270-6375-4941-BA47-0DE56E837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CA" dirty="0"/>
              <a:t>The approach followed by the team to implement the face detection is by converting the images to the NumPy arrays. This approach is bit slow and takes a lot of time in building the NumPy arrays. However, team was able to implement the project using a decent dataset of around 10,000 pair of datasets, on which model is trained.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CA" dirty="0"/>
              <a:t>Google </a:t>
            </a:r>
            <a:r>
              <a:rPr lang="en-CA" dirty="0" err="1"/>
              <a:t>Colab</a:t>
            </a:r>
            <a:r>
              <a:rPr lang="en-CA" dirty="0"/>
              <a:t> has a limit on the number of resources you can use, thus training a model with different number of possibilities is bit difficult.</a:t>
            </a:r>
          </a:p>
        </p:txBody>
      </p:sp>
    </p:spTree>
    <p:extLst>
      <p:ext uri="{BB962C8B-B14F-4D97-AF65-F5344CB8AC3E}">
        <p14:creationId xmlns:p14="http://schemas.microsoft.com/office/powerpoint/2010/main" val="255567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28756-0FA5-471F-B25F-B44FA1553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9C2C53-C77D-4569-8377-F6307A10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91D0B37-4004-4E3A-97FE-EF3C057AA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E0457E7-51E7-4FFE-B085-40494AC3E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11DE4-00A4-FE4A-B6C3-C8E646B7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744909"/>
            <a:ext cx="55626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84E5E80-DFE5-413A-9262-81A6E35B28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42" y="1017640"/>
            <a:ext cx="4817466" cy="48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4780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652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Avenir Next LT Pro</vt:lpstr>
      <vt:lpstr>AvenirNext LT Pro Medium</vt:lpstr>
      <vt:lpstr>Calibri</vt:lpstr>
      <vt:lpstr>medium-content-sans-serif-font</vt:lpstr>
      <vt:lpstr>Sabon Next LT</vt:lpstr>
      <vt:lpstr>Wingdings</vt:lpstr>
      <vt:lpstr>DappledVTI</vt:lpstr>
      <vt:lpstr>ENEL 645  Data Mining &amp; Machine Learning Final Project Presentation</vt:lpstr>
      <vt:lpstr>Motivation &amp; Significance of the Problem</vt:lpstr>
      <vt:lpstr>Defining Dataset</vt:lpstr>
      <vt:lpstr>Data Preprocessing</vt:lpstr>
      <vt:lpstr>Methodology</vt:lpstr>
      <vt:lpstr>PowerPoint Presentation</vt:lpstr>
      <vt:lpstr> Model Training</vt:lpstr>
      <vt:lpstr>Results - Predicted Labels</vt:lpstr>
      <vt:lpstr>Predicted vs Actual Images</vt:lpstr>
      <vt:lpstr>Confusion Matrix  and Classification Report</vt:lpstr>
      <vt:lpstr>Challenges Faced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ENEL 645  Data Mining &amp; Machine Learning Mid Term Project Presentation</dc:title>
  <dc:creator>Chetana Bijoor</dc:creator>
  <cp:lastModifiedBy>Sanyam Sanyam</cp:lastModifiedBy>
  <cp:revision>24</cp:revision>
  <dcterms:created xsi:type="dcterms:W3CDTF">2021-03-15T17:48:41Z</dcterms:created>
  <dcterms:modified xsi:type="dcterms:W3CDTF">2021-04-17T00:37:09Z</dcterms:modified>
</cp:coreProperties>
</file>